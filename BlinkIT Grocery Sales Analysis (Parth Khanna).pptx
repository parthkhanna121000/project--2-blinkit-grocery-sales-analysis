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7" autoAdjust="0"/>
  </p:normalViewPr>
  <p:slideViewPr>
    <p:cSldViewPr snapToGrid="0" snapToObjects="1">
      <p:cViewPr varScale="1">
        <p:scale>
          <a:sx n="77" d="100"/>
          <a:sy n="77" d="100"/>
        </p:scale>
        <p:origin x="88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A2D5C-85AC-43EA-80F9-1B2E5E3E91F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C8517-9B02-48E4-AD55-474400D18E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521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C8517-9B02-48E4-AD55-474400D18E6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6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533876"/>
            <a:ext cx="106680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533876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6143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9138" y="1702594"/>
            <a:ext cx="215456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4000" b="1" dirty="0">
                <a:solidFill>
                  <a:srgbClr val="38BDF8"/>
                </a:solidFill>
                <a:latin typeface="Plus Jakarta Sans"/>
              </a:rPr>
              <a:t>Project - 2</a:t>
            </a:r>
            <a:endParaRPr sz="400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717452"/>
            <a:ext cx="10626328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 err="1">
                <a:solidFill>
                  <a:srgbClr val="FFFFFF"/>
                </a:solidFill>
                <a:latin typeface="Plus Jakarta Sans"/>
              </a:rPr>
              <a:t>BlinkIT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 Grocery 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959" y="3601122"/>
            <a:ext cx="6953250" cy="905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0" i="0" u="none" dirty="0">
                <a:solidFill>
                  <a:srgbClr val="CBD5E1"/>
                </a:solidFill>
                <a:latin typeface="Inter"/>
              </a:rPr>
              <a:t>An end-to-end data evaluation analyzing 8,523 transactions across outlet tiers, product categories, and operational drivers.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571500"/>
            <a:ext cx="2202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Plus Jakarta Sans"/>
              </a:rPr>
              <a:t>BLINKIT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959" y="5838675"/>
            <a:ext cx="98046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chemeClr val="bg1">
                    <a:lumMod val="95000"/>
                  </a:schemeClr>
                </a:solidFill>
                <a:latin typeface="Inter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48226"/>
            <a:ext cx="201920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FFFFF"/>
                </a:solidFill>
                <a:latin typeface="Plus Jakarta Sans"/>
              </a:rPr>
              <a:t>Parth Khanna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6275" y="2761835"/>
            <a:ext cx="3505200" cy="2371725"/>
          </a:xfrm>
          <a:prstGeom prst="roundRect">
            <a:avLst>
              <a:gd name="adj" fmla="val 6425"/>
            </a:avLst>
          </a:prstGeom>
          <a:ln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2738437"/>
            <a:ext cx="3505200" cy="2371725"/>
          </a:xfrm>
          <a:prstGeom prst="roundRect">
            <a:avLst>
              <a:gd name="adj" fmla="val 6425"/>
            </a:avLst>
          </a:prstGeom>
          <a:ln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38437"/>
            <a:ext cx="3505200" cy="2371725"/>
          </a:xfrm>
          <a:prstGeom prst="roundRect">
            <a:avLst>
              <a:gd name="adj" fmla="val 6425"/>
            </a:avLst>
          </a:prstGeom>
          <a:ln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090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0908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0908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525" y="3214687"/>
            <a:ext cx="1333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037" y="3214687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737" y="3214687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198" y="297788"/>
            <a:ext cx="213360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800" b="1" i="0" u="none" dirty="0">
                <a:solidFill>
                  <a:srgbClr val="D97706"/>
                </a:solidFill>
                <a:latin typeface="Inter"/>
              </a:rPr>
              <a:t>OBJECTIVE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387" y="1440762"/>
            <a:ext cx="524021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Overall Sales Performance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981" y="3738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₹1.20M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256" y="4348162"/>
            <a:ext cx="192988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64748B"/>
                </a:solidFill>
                <a:latin typeface="Inter"/>
              </a:rPr>
              <a:t>Total Cumulative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112" y="4605337"/>
            <a:ext cx="33561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F172A"/>
                </a:solidFill>
                <a:latin typeface="Inter"/>
              </a:rPr>
              <a:t>₹1,201,681.49 exactly across 8,523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5781" y="3738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₹140.99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3214" y="4348162"/>
            <a:ext cx="184557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64748B"/>
                </a:solidFill>
                <a:latin typeface="Inter"/>
              </a:rPr>
              <a:t>Average Transaction 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997" y="4605337"/>
            <a:ext cx="34360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F172A"/>
                </a:solidFill>
                <a:latin typeface="Inter"/>
              </a:rPr>
              <a:t>Ranging from ₹31.29 min to ₹266.89 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581" y="3738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3.97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3485" y="4348162"/>
            <a:ext cx="18726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64748B"/>
                </a:solidFill>
                <a:latin typeface="Inter"/>
              </a:rPr>
              <a:t>Average Customer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697" y="4605337"/>
            <a:ext cx="34662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F172A"/>
                </a:solidFill>
                <a:latin typeface="Inter"/>
              </a:rPr>
              <a:t>Consistent high satisfaction across outlets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3454449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4368849" y="2957512"/>
            <a:ext cx="3454449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8128099" y="2962275"/>
            <a:ext cx="3454449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09600" y="2957512"/>
            <a:ext cx="47625" cy="18573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4368849" y="2957512"/>
            <a:ext cx="47625" cy="1857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8128099" y="2962275"/>
            <a:ext cx="47625" cy="1847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368849" y="317183"/>
            <a:ext cx="26489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2000" b="1" i="0" u="none">
                <a:solidFill>
                  <a:srgbClr val="D97706"/>
                </a:solidFill>
                <a:latin typeface="Inter"/>
              </a:defRPr>
            </a:lvl1pPr>
          </a:lstStyle>
          <a:p>
            <a:r>
              <a:rPr sz="2800" dirty="0"/>
              <a:t>OBJECTIVE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10" y="1742078"/>
            <a:ext cx="5486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Data Health &amp; Hygiene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262312"/>
            <a:ext cx="223798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Missing Values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652837"/>
            <a:ext cx="289247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34155"/>
                </a:solidFill>
                <a:latin typeface="Inter"/>
              </a:rPr>
              <a:t>Item Weight: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1,463 missing records (~17.16% of dataset).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48137"/>
            <a:ext cx="2892474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64748B"/>
                </a:solidFill>
                <a:latin typeface="Inter"/>
              </a:rPr>
              <a:t>Requires imputation using item category medians to maintain model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1274" y="3262312"/>
            <a:ext cx="17681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Plus Jakarta Sans"/>
              </a:rPr>
              <a:t>Duplicate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1274" y="3652837"/>
            <a:ext cx="289247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34155"/>
                </a:solidFill>
                <a:latin typeface="Inter"/>
              </a:rPr>
              <a:t>Duplicate Rows: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0 redundant records identified.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4148137"/>
            <a:ext cx="289247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64748B"/>
                </a:solidFill>
                <a:latin typeface="Inter"/>
              </a:rPr>
              <a:t>100% unique transaction logs verified across all 8,523 entries.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524" y="3267075"/>
            <a:ext cx="18601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Plus Jakarta Sans"/>
              </a:rPr>
              <a:t>Outlier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0524" y="3657600"/>
            <a:ext cx="274485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34155"/>
                </a:solidFill>
                <a:latin typeface="Inter"/>
              </a:rPr>
              <a:t>Sales Spread:</a:t>
            </a:r>
            <a:r>
              <a:rPr sz="1600" b="0" i="0" u="none">
                <a:solidFill>
                  <a:srgbClr val="334155"/>
                </a:solidFill>
                <a:latin typeface="Inter"/>
              </a:rPr>
              <a:t> ₹31.29 to ₹266.89.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0524" y="3962400"/>
            <a:ext cx="2892474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64748B"/>
                </a:solidFill>
                <a:latin typeface="Inter"/>
              </a:rPr>
              <a:t>Balanced standard deviation (₹62.28) indicating clean variance without skewing outliers.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00300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Rounded Rectangle 2"/>
          <p:cNvSpPr/>
          <p:nvPr/>
        </p:nvSpPr>
        <p:spPr>
          <a:xfrm>
            <a:off x="609600" y="3171825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609600" y="3943350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Rounded Rectangle 4"/>
          <p:cNvSpPr/>
          <p:nvPr/>
        </p:nvSpPr>
        <p:spPr>
          <a:xfrm>
            <a:off x="609600" y="4714875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4656372" y="240268"/>
            <a:ext cx="212211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2400" b="1" i="0" u="none">
                <a:solidFill>
                  <a:srgbClr val="D97706"/>
                </a:solidFill>
                <a:latin typeface="Inter"/>
              </a:defRPr>
            </a:lvl1pPr>
          </a:lstStyle>
          <a:p>
            <a:r>
              <a:rPr sz="2800" dirty="0"/>
              <a:t>OBJECTIVE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226582"/>
            <a:ext cx="4488280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Top Selling Product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25968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D97706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609850"/>
            <a:ext cx="22785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Inter"/>
              </a:rPr>
              <a:t>Fruits and Vegetables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1425" y="2628900"/>
            <a:ext cx="1363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1,232 items sold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0" y="2628900"/>
            <a:ext cx="10786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Avg: ₹144.58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1275" y="2590800"/>
            <a:ext cx="15613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₹178,124.08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381375"/>
            <a:ext cx="25968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D97706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381375"/>
            <a:ext cx="130490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Inter"/>
              </a:rPr>
              <a:t>Snack Foods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0475" y="3400425"/>
            <a:ext cx="1363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1,200 items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0650" y="3400425"/>
            <a:ext cx="10786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Avg: ₹146.19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0" y="3362325"/>
            <a:ext cx="15613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₹175,433.92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152900"/>
            <a:ext cx="25968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D97706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152900"/>
            <a:ext cx="114614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Inter"/>
              </a:rPr>
              <a:t>Household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0" y="4171950"/>
            <a:ext cx="120808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910 items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4171950"/>
            <a:ext cx="10786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Avg: ₹149.42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0800" y="4133850"/>
            <a:ext cx="15613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₹135,976.53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924425"/>
            <a:ext cx="25968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D97706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4924425"/>
            <a:ext cx="139377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Inter"/>
              </a:rPr>
              <a:t>Frozen Foods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6675" y="4943475"/>
            <a:ext cx="120808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856 items sold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2075" y="4943475"/>
            <a:ext cx="10786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Inter"/>
              </a:rPr>
              <a:t>Avg: ₹138.50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1750" y="4905375"/>
            <a:ext cx="15613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₹118,558.88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1312"/>
            <a:ext cx="3505200" cy="2009775"/>
          </a:xfrm>
          <a:prstGeom prst="roundRect">
            <a:avLst>
              <a:gd name="adj" fmla="val 7582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4343400" y="2881312"/>
            <a:ext cx="3505200" cy="2009775"/>
          </a:xfrm>
          <a:prstGeom prst="roundRect">
            <a:avLst>
              <a:gd name="adj" fmla="val 7582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" name="Rounded Rectangle 3"/>
          <p:cNvSpPr/>
          <p:nvPr/>
        </p:nvSpPr>
        <p:spPr>
          <a:xfrm>
            <a:off x="8077200" y="2881312"/>
            <a:ext cx="3505200" cy="2009775"/>
          </a:xfrm>
          <a:prstGeom prst="roundRect">
            <a:avLst>
              <a:gd name="adj" fmla="val 7582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343400" y="250865"/>
            <a:ext cx="23878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2400" b="1" i="0" u="none">
                <a:solidFill>
                  <a:srgbClr val="D97706"/>
                </a:solidFill>
                <a:latin typeface="Inter"/>
              </a:defRPr>
            </a:lvl1pPr>
          </a:lstStyle>
          <a:p>
            <a:r>
              <a:rPr sz="2800" dirty="0"/>
              <a:t>OBJECTIVE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62050"/>
            <a:ext cx="5498108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Underperforming Product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95637"/>
            <a:ext cx="18812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Inter"/>
              </a:rPr>
              <a:t>LOWEST REVENUE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71862"/>
            <a:ext cx="10404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Seafood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10012"/>
            <a:ext cx="167353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E11D48"/>
                </a:solidFill>
                <a:latin typeface="Plus Jakarta Sans"/>
              </a:rPr>
              <a:t>₹9,077.87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414837"/>
            <a:ext cx="227286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Only 64 items sold across all outlets.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195637"/>
            <a:ext cx="18041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Inter"/>
              </a:rPr>
              <a:t>SECOND LOWEST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471862"/>
            <a:ext cx="12064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Breakfast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10012"/>
            <a:ext cx="188192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E11D48"/>
                </a:solidFill>
                <a:latin typeface="Plus Jakarta Sans"/>
              </a:rPr>
              <a:t>₹15,596.70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4414837"/>
            <a:ext cx="25590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Limited stock depth with 110 total items.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195637"/>
            <a:ext cx="16761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Inter"/>
              </a:rPr>
              <a:t>THIRD LOWEST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471862"/>
            <a:ext cx="176580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Starchy Foods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910012"/>
            <a:ext cx="188192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E11D48"/>
                </a:solidFill>
                <a:latin typeface="Plus Jakarta Sans"/>
              </a:rPr>
              <a:t>₹21,880.03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414837"/>
            <a:ext cx="28812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Low order volume with 148 total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6494" y="2763133"/>
            <a:ext cx="5638800" cy="1933882"/>
          </a:xfrm>
          <a:prstGeom prst="roundRect">
            <a:avLst>
              <a:gd name="adj" fmla="val 975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Rounded Rectangle 2"/>
          <p:cNvSpPr/>
          <p:nvPr/>
        </p:nvSpPr>
        <p:spPr>
          <a:xfrm>
            <a:off x="6301537" y="2706637"/>
            <a:ext cx="5491316" cy="1982280"/>
          </a:xfrm>
          <a:prstGeom prst="roundRect">
            <a:avLst>
              <a:gd name="adj" fmla="val 874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83" y="3108074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95" y="3022452"/>
            <a:ext cx="190500" cy="165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82706" y="204540"/>
            <a:ext cx="23866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2800" b="1" i="0" u="none">
                <a:solidFill>
                  <a:srgbClr val="D97706"/>
                </a:solidFill>
                <a:latin typeface="Inter"/>
              </a:defRPr>
            </a:lvl1pPr>
          </a:lstStyle>
          <a:p>
            <a:r>
              <a:rPr sz="3200" dirty="0"/>
              <a:t>OBJECTIVE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76458"/>
            <a:ext cx="446923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Top Outlets vs. Grocery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009" y="3601440"/>
            <a:ext cx="52940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34155"/>
                </a:solidFill>
                <a:latin typeface="Inter"/>
              </a:rPr>
              <a:t>OUT035 (Supermarket Type1, Tier 2):</a:t>
            </a:r>
            <a:r>
              <a:rPr sz="2000" b="0" i="0" u="none" dirty="0">
                <a:solidFill>
                  <a:srgbClr val="334155"/>
                </a:solidFill>
                <a:latin typeface="Inter"/>
              </a:rPr>
              <a:t> ₹133,103.91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998" y="3875868"/>
            <a:ext cx="52940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34155"/>
                </a:solidFill>
                <a:latin typeface="Inter"/>
              </a:rPr>
              <a:t>OUT046 (Supermarket Type1, Tier 1):</a:t>
            </a:r>
            <a:r>
              <a:rPr sz="2000" b="0" i="0" u="none" dirty="0">
                <a:solidFill>
                  <a:srgbClr val="334155"/>
                </a:solidFill>
                <a:latin typeface="Inter"/>
              </a:rPr>
              <a:t> ₹132,113.37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87" y="4166046"/>
            <a:ext cx="52940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34155"/>
                </a:solidFill>
                <a:latin typeface="Inter"/>
              </a:rPr>
              <a:t>OUT013 (Supermarket Type1, Tier 3):</a:t>
            </a:r>
            <a:r>
              <a:rPr sz="2000" b="0" i="0" u="none" dirty="0">
                <a:solidFill>
                  <a:srgbClr val="334155"/>
                </a:solidFill>
                <a:latin typeface="Inter"/>
              </a:rPr>
              <a:t> ₹131,809.02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567112"/>
            <a:ext cx="45531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34155"/>
                </a:solidFill>
                <a:latin typeface="Inter"/>
              </a:rPr>
              <a:t>OUT019 (Grocery Store, Tier 1):</a:t>
            </a:r>
            <a:r>
              <a:rPr sz="2000" b="0" i="0" u="none" dirty="0">
                <a:solidFill>
                  <a:srgbClr val="334155"/>
                </a:solidFill>
                <a:latin typeface="Inter"/>
              </a:rPr>
              <a:t> ₹73,807.58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824287"/>
            <a:ext cx="45531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334155"/>
                </a:solidFill>
                <a:latin typeface="Inter"/>
              </a:rPr>
              <a:t>OUT010 (Grocery Store, Tier 3):</a:t>
            </a:r>
            <a:r>
              <a:rPr sz="2000" b="0" i="0" u="none">
                <a:solidFill>
                  <a:srgbClr val="334155"/>
                </a:solidFill>
                <a:latin typeface="Inter"/>
              </a:rPr>
              <a:t> ₹78,131.57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081462"/>
            <a:ext cx="480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64748B"/>
                </a:solidFill>
                <a:latin typeface="Inter"/>
              </a:rPr>
              <a:t>Grocery stores generate ~44% lower overall volume than Supermarkets.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7417" y="2972661"/>
            <a:ext cx="345466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Top Performing Outlets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4623" y="2908043"/>
            <a:ext cx="377680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Underperforming Outlets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3128962"/>
            <a:ext cx="2838451" cy="2546281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Rounded Rectangle 2"/>
          <p:cNvSpPr/>
          <p:nvPr/>
        </p:nvSpPr>
        <p:spPr>
          <a:xfrm>
            <a:off x="3409949" y="3128962"/>
            <a:ext cx="3120059" cy="2546281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6210300" y="3128962"/>
            <a:ext cx="3120058" cy="2546281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9048750" y="3042974"/>
            <a:ext cx="2697646" cy="2625795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609600" y="3128962"/>
            <a:ext cx="257175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3409950" y="3128962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210300" y="3128962"/>
            <a:ext cx="25717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9010650" y="3128962"/>
            <a:ext cx="25717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531705" y="254913"/>
            <a:ext cx="2998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2800" b="1" i="0" u="none">
                <a:solidFill>
                  <a:srgbClr val="D97706"/>
                </a:solidFill>
                <a:latin typeface="Inter"/>
              </a:defRPr>
            </a:lvl1pPr>
          </a:lstStyle>
          <a:p>
            <a:r>
              <a:rPr dirty="0"/>
              <a:t>ACTION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1613867"/>
            <a:ext cx="549881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Practical Business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33762"/>
            <a:ext cx="130740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Stock Smartly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67137"/>
            <a:ext cx="2133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Inter"/>
              </a:rPr>
              <a:t>Expand shelf allocation for top categories like Fruits, Vegetables, and Snacks while pruning cold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876" y="3402984"/>
            <a:ext cx="221618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0F172A"/>
                </a:solidFill>
                <a:latin typeface="Plus Jakarta Sans"/>
              </a:rPr>
              <a:t>Replicate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1" dirty="0">
                <a:solidFill>
                  <a:srgbClr val="0F172A"/>
                </a:solidFill>
                <a:latin typeface="Plus Jakarta Sans"/>
              </a:rPr>
              <a:t>Outlet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767137"/>
            <a:ext cx="2133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dirty="0">
                <a:solidFill>
                  <a:srgbClr val="475569"/>
                </a:solidFill>
                <a:latin typeface="Inter"/>
              </a:rPr>
              <a:t>Extract operational benchmarks from top Supermarkets (OUT035) and deploy to lagging grocery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433762"/>
            <a:ext cx="222118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Boost Product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767137"/>
            <a:ext cx="2133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475569"/>
                </a:solidFill>
                <a:latin typeface="Inter"/>
              </a:defRPr>
            </a:lvl1pPr>
          </a:lstStyle>
          <a:p>
            <a:r>
              <a:rPr sz="1800" dirty="0"/>
              <a:t>Reposition high-margin, highly-rated items to prime eye-level digital and physical shelf placements.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9822" y="3433762"/>
            <a:ext cx="14699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Smart Bundling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7350" y="3767137"/>
            <a:ext cx="2133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475569"/>
                </a:solidFill>
                <a:latin typeface="Inter"/>
              </a:defRPr>
            </a:lvl1pPr>
          </a:lstStyle>
          <a:p>
            <a:r>
              <a:rPr sz="1800" dirty="0"/>
              <a:t>Bundle lower-volume goods (Seafood, Breakfast) with high-traffic staples to accelerate inventory turnover.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409</Words>
  <Application>Microsoft Office PowerPoint</Application>
  <PresentationFormat>Widescreen</PresentationFormat>
  <Paragraphs>85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Inter</vt:lpstr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Khanna</cp:lastModifiedBy>
  <cp:revision>4</cp:revision>
  <dcterms:created xsi:type="dcterms:W3CDTF">2013-01-27T09:14:16Z</dcterms:created>
  <dcterms:modified xsi:type="dcterms:W3CDTF">2026-10-18T21:33:08Z</dcterms:modified>
  <cp:category/>
</cp:coreProperties>
</file>