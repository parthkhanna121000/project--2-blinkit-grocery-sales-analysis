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embeddedFontLst>
    <p:embeddedFont>
      <p:font typeface="Inter"/>
      <p:bold r:id="rId10"/>
    </p:embeddedFont>
    <p:embeddedFont>
      <p:font typeface="Plus Jakarta Sans"/>
      <p:bold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87" autoAdjust="0"/>
  </p:normalViewPr>
  <p:slideViewPr>
    <p:cSldViewPr snapToGrid="0" snapToObjects="1">
      <p:cViewPr varScale="1">
        <p:scale>
          <a:sx n="77" d="100"/>
          <a:sy n="77" d="100"/>
        </p:scale>
        <p:origin x="88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A2D5C-85AC-43EA-80F9-1B2E5E3E91FD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8C8517-9B02-48E4-AD55-474400D18E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9521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8C8517-9B02-48E4-AD55-474400D18E6B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5769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533876"/>
            <a:ext cx="10668000" cy="7524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62000" y="5533876"/>
            <a:ext cx="10668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9137" y="1461819"/>
            <a:ext cx="3614445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4800" b="1" dirty="0">
                <a:solidFill>
                  <a:srgbClr val="38BDF8"/>
                </a:solidFill>
                <a:latin typeface="Plus Jakarta Sans"/>
              </a:rPr>
              <a:t>Project - 2</a:t>
            </a:r>
            <a:endParaRPr sz="4800" b="1" i="0" u="none" dirty="0">
              <a:solidFill>
                <a:srgbClr val="38BDF8"/>
              </a:solidFill>
              <a:latin typeface="Plus Jakarta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9380" y="2539583"/>
            <a:ext cx="8508483" cy="644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830"/>
              </a:lnSpc>
            </a:pPr>
            <a:r>
              <a:rPr lang="en-IN" sz="5400" b="1" i="0" u="none" dirty="0" err="1">
                <a:solidFill>
                  <a:srgbClr val="FFFFFF"/>
                </a:solidFill>
                <a:latin typeface="Plus Jakarta Sans"/>
              </a:rPr>
              <a:t>BlinkIT</a:t>
            </a:r>
            <a:r>
              <a:rPr lang="en-IN" sz="5400" b="1" i="0" u="none" dirty="0">
                <a:solidFill>
                  <a:srgbClr val="FFFFFF"/>
                </a:solidFill>
                <a:latin typeface="Plus Jakarta Sans"/>
              </a:rPr>
              <a:t> Grocery Sales Analysis</a:t>
            </a:r>
            <a:endParaRPr sz="5400" b="1" i="0" u="none" dirty="0">
              <a:solidFill>
                <a:srgbClr val="FFFFFF"/>
              </a:solidFill>
              <a:latin typeface="Plus Jakarta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9380" y="3479329"/>
            <a:ext cx="6953250" cy="9058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400" b="0" i="0" u="none" dirty="0">
                <a:solidFill>
                  <a:schemeClr val="bg1"/>
                </a:solidFill>
                <a:latin typeface="Inter"/>
              </a:rPr>
              <a:t>An end-to-end data evaluation analyzing 8,523 transactions across outlet tiers, product categories, and operational drivers.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959" y="5838675"/>
            <a:ext cx="980461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 i="0" u="none" dirty="0">
                <a:solidFill>
                  <a:schemeClr val="bg1">
                    <a:lumMod val="95000"/>
                  </a:schemeClr>
                </a:solidFill>
                <a:latin typeface="Inter"/>
              </a:rPr>
              <a:t>PREPARED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048226"/>
            <a:ext cx="2019207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1" i="0" u="none" dirty="0">
                <a:solidFill>
                  <a:srgbClr val="FFFFFF"/>
                </a:solidFill>
                <a:latin typeface="Plus Jakarta Sans"/>
              </a:rPr>
              <a:t>Parth Khanna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76275" y="2761835"/>
            <a:ext cx="3505200" cy="2371725"/>
          </a:xfrm>
          <a:prstGeom prst="roundRect">
            <a:avLst>
              <a:gd name="adj" fmla="val 6425"/>
            </a:avLst>
          </a:prstGeom>
          <a:ln/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4343400" y="2738437"/>
            <a:ext cx="3505200" cy="2371725"/>
          </a:xfrm>
          <a:prstGeom prst="roundRect">
            <a:avLst>
              <a:gd name="adj" fmla="val 6425"/>
            </a:avLst>
          </a:prstGeom>
          <a:ln/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738437"/>
            <a:ext cx="3505200" cy="2371725"/>
          </a:xfrm>
          <a:prstGeom prst="roundRect">
            <a:avLst>
              <a:gd name="adj" fmla="val 6425"/>
            </a:avLst>
          </a:prstGeom>
          <a:ln/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0" y="3090862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400" y="3090862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3090862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25" y="3214687"/>
            <a:ext cx="133350" cy="2095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037" y="3214687"/>
            <a:ext cx="161925" cy="2095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0737" y="3214687"/>
            <a:ext cx="238125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2059" y="294369"/>
            <a:ext cx="2133601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3200" b="1" i="0" u="none" dirty="0">
                <a:solidFill>
                  <a:srgbClr val="D97706"/>
                </a:solidFill>
                <a:latin typeface="Inter"/>
              </a:rPr>
              <a:t>OBJECTIVE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2387" y="1440762"/>
            <a:ext cx="5240217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1" i="0" u="none" dirty="0">
                <a:solidFill>
                  <a:srgbClr val="0F172A"/>
                </a:solidFill>
                <a:latin typeface="Plus Jakarta Sans"/>
              </a:rPr>
              <a:t>Overall Sales Performance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981" y="3738562"/>
            <a:ext cx="3500437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300" b="1" i="0" u="none">
                <a:solidFill>
                  <a:srgbClr val="0F172A"/>
                </a:solidFill>
                <a:latin typeface="Plus Jakarta Sans"/>
              </a:rPr>
              <a:t>₹1.20M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7256" y="4348162"/>
            <a:ext cx="192988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 i="0" u="none" dirty="0">
                <a:solidFill>
                  <a:srgbClr val="64748B"/>
                </a:solidFill>
                <a:latin typeface="Inter"/>
              </a:rPr>
              <a:t>Total Cumulative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112" y="4605337"/>
            <a:ext cx="3356175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00" b="0" i="0" u="none" dirty="0">
                <a:solidFill>
                  <a:srgbClr val="0F172A"/>
                </a:solidFill>
                <a:latin typeface="Inter"/>
              </a:rPr>
              <a:t>₹1,201,681.49 exactly across 8,523 sales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5781" y="3738562"/>
            <a:ext cx="3500437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300" b="1" i="0" u="none">
                <a:solidFill>
                  <a:srgbClr val="0F172A"/>
                </a:solidFill>
                <a:latin typeface="Plus Jakarta Sans"/>
              </a:rPr>
              <a:t>₹140.99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214" y="4348162"/>
            <a:ext cx="1845570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 i="0" u="none" dirty="0">
                <a:solidFill>
                  <a:srgbClr val="64748B"/>
                </a:solidFill>
                <a:latin typeface="Inter"/>
              </a:rPr>
              <a:t>Average Transaction Sale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7997" y="4605337"/>
            <a:ext cx="3436005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00" b="0" i="0" u="none" dirty="0">
                <a:solidFill>
                  <a:srgbClr val="0F172A"/>
                </a:solidFill>
                <a:latin typeface="Inter"/>
              </a:rPr>
              <a:t>Ranging from ₹31.29 min to ₹266.89 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581" y="3738562"/>
            <a:ext cx="3500437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300" b="1" i="0" u="none">
                <a:solidFill>
                  <a:srgbClr val="0F172A"/>
                </a:solidFill>
                <a:latin typeface="Plus Jakarta Sans"/>
              </a:rPr>
              <a:t>3.97 /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3485" y="4348162"/>
            <a:ext cx="1872628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 i="0" u="none" dirty="0">
                <a:solidFill>
                  <a:srgbClr val="64748B"/>
                </a:solidFill>
                <a:latin typeface="Inter"/>
              </a:rPr>
              <a:t>Average Customer Rating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6697" y="4605337"/>
            <a:ext cx="3466205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00" b="0" i="0" u="none" dirty="0">
                <a:solidFill>
                  <a:srgbClr val="0F172A"/>
                </a:solidFill>
                <a:latin typeface="Inter"/>
              </a:rPr>
              <a:t>Consistent high satisfaction across outlets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57512"/>
            <a:ext cx="3454449" cy="1857375"/>
          </a:xfrm>
          <a:prstGeom prst="roundRect">
            <a:avLst>
              <a:gd name="adj" fmla="val 8205"/>
            </a:avLst>
          </a:prstGeom>
          <a:solidFill>
            <a:srgbClr val="F8FAFC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ounded Rectangle 2"/>
          <p:cNvSpPr/>
          <p:nvPr/>
        </p:nvSpPr>
        <p:spPr>
          <a:xfrm>
            <a:off x="4368849" y="2957512"/>
            <a:ext cx="3454449" cy="1857375"/>
          </a:xfrm>
          <a:prstGeom prst="roundRect">
            <a:avLst>
              <a:gd name="adj" fmla="val 8205"/>
            </a:avLst>
          </a:prstGeom>
          <a:solidFill>
            <a:srgbClr val="F8FAFC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ounded Rectangle 3"/>
          <p:cNvSpPr/>
          <p:nvPr/>
        </p:nvSpPr>
        <p:spPr>
          <a:xfrm>
            <a:off x="8128099" y="2962275"/>
            <a:ext cx="3454449" cy="1847850"/>
          </a:xfrm>
          <a:prstGeom prst="roundRect">
            <a:avLst>
              <a:gd name="adj" fmla="val 8247"/>
            </a:avLst>
          </a:prstGeom>
          <a:solidFill>
            <a:srgbClr val="F8FAFC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609600" y="2957512"/>
            <a:ext cx="47625" cy="18573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ectangle 5"/>
          <p:cNvSpPr/>
          <p:nvPr/>
        </p:nvSpPr>
        <p:spPr>
          <a:xfrm>
            <a:off x="4368849" y="2957512"/>
            <a:ext cx="47625" cy="185737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8128099" y="2962275"/>
            <a:ext cx="47625" cy="18478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4368849" y="317183"/>
            <a:ext cx="264893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algn="r">
              <a:defRPr sz="2000" b="1" i="0" u="none">
                <a:solidFill>
                  <a:srgbClr val="D97706"/>
                </a:solidFill>
                <a:latin typeface="Inter"/>
              </a:defRPr>
            </a:lvl1pPr>
          </a:lstStyle>
          <a:p>
            <a:r>
              <a:rPr sz="3200" dirty="0"/>
              <a:t>OBJECTIVE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810" y="1742078"/>
            <a:ext cx="54864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u="none" dirty="0">
                <a:solidFill>
                  <a:srgbClr val="0F172A"/>
                </a:solidFill>
                <a:latin typeface="Plus Jakarta Sans"/>
              </a:rPr>
              <a:t>Data Health &amp; Hygiene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3262312"/>
            <a:ext cx="223798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Plus Jakarta Sans"/>
              </a:rPr>
              <a:t>Missing Values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3652837"/>
            <a:ext cx="289247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u="none" dirty="0">
                <a:solidFill>
                  <a:srgbClr val="334155"/>
                </a:solidFill>
                <a:latin typeface="Inter"/>
              </a:rPr>
              <a:t>Item Weight:</a:t>
            </a:r>
            <a:r>
              <a:rPr sz="1600" b="0" i="0" u="none" dirty="0">
                <a:solidFill>
                  <a:srgbClr val="334155"/>
                </a:solidFill>
                <a:latin typeface="Inter"/>
              </a:rPr>
              <a:t> 1,463 missing records (~17.16% of dataset).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4148137"/>
            <a:ext cx="2892474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 dirty="0">
                <a:solidFill>
                  <a:srgbClr val="64748B"/>
                </a:solidFill>
                <a:latin typeface="Inter"/>
              </a:rPr>
              <a:t>Requires imputation using item category medians to maintain model reliability.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1274" y="3262312"/>
            <a:ext cx="176811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Plus Jakarta Sans"/>
              </a:rPr>
              <a:t>Duplicate 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1274" y="3652837"/>
            <a:ext cx="289247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u="none" dirty="0">
                <a:solidFill>
                  <a:srgbClr val="334155"/>
                </a:solidFill>
                <a:latin typeface="Inter"/>
              </a:rPr>
              <a:t>Duplicate Rows:</a:t>
            </a:r>
            <a:r>
              <a:rPr sz="1600" b="0" i="0" u="none" dirty="0">
                <a:solidFill>
                  <a:srgbClr val="334155"/>
                </a:solidFill>
                <a:latin typeface="Inter"/>
              </a:rPr>
              <a:t> 0 redundant records identified.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1274" y="4148137"/>
            <a:ext cx="289247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64748B"/>
                </a:solidFill>
                <a:latin typeface="Inter"/>
              </a:rPr>
              <a:t>100% unique transaction logs verified across all 8,523 entries.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0524" y="3267075"/>
            <a:ext cx="186012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Plus Jakarta Sans"/>
              </a:rPr>
              <a:t>Outlier 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0524" y="3657600"/>
            <a:ext cx="2744854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334155"/>
                </a:solidFill>
                <a:latin typeface="Inter"/>
              </a:rPr>
              <a:t>Sales Spread:</a:t>
            </a:r>
            <a:r>
              <a:rPr sz="1600" b="0" i="0" u="none">
                <a:solidFill>
                  <a:srgbClr val="334155"/>
                </a:solidFill>
                <a:latin typeface="Inter"/>
              </a:rPr>
              <a:t> ₹31.29 to ₹266.89.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0524" y="3962400"/>
            <a:ext cx="2892474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 dirty="0">
                <a:solidFill>
                  <a:srgbClr val="64748B"/>
                </a:solidFill>
                <a:latin typeface="Inter"/>
              </a:rPr>
              <a:t>Balanced standard deviation (₹62.28) indicating clean variance without skewing outliers.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599" y="2400300"/>
            <a:ext cx="11337235" cy="619125"/>
          </a:xfrm>
          <a:prstGeom prst="roundRect">
            <a:avLst>
              <a:gd name="adj" fmla="val 18461"/>
            </a:avLst>
          </a:prstGeom>
          <a:ln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Rounded Rectangle 2"/>
          <p:cNvSpPr/>
          <p:nvPr/>
        </p:nvSpPr>
        <p:spPr>
          <a:xfrm>
            <a:off x="609600" y="3169683"/>
            <a:ext cx="11337234" cy="621268"/>
          </a:xfrm>
          <a:prstGeom prst="roundRect">
            <a:avLst>
              <a:gd name="adj" fmla="val 18461"/>
            </a:avLst>
          </a:prstGeom>
          <a:ln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" name="Rounded Rectangle 3"/>
          <p:cNvSpPr/>
          <p:nvPr/>
        </p:nvSpPr>
        <p:spPr>
          <a:xfrm>
            <a:off x="609600" y="4000501"/>
            <a:ext cx="11337234" cy="561974"/>
          </a:xfrm>
          <a:prstGeom prst="roundRect">
            <a:avLst>
              <a:gd name="adj" fmla="val 18461"/>
            </a:avLst>
          </a:prstGeom>
          <a:ln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" name="Rounded Rectangle 4"/>
          <p:cNvSpPr/>
          <p:nvPr/>
        </p:nvSpPr>
        <p:spPr>
          <a:xfrm>
            <a:off x="609600" y="4695825"/>
            <a:ext cx="11337234" cy="638176"/>
          </a:xfrm>
          <a:prstGeom prst="roundRect">
            <a:avLst>
              <a:gd name="adj" fmla="val 18461"/>
            </a:avLst>
          </a:prstGeom>
          <a:ln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4656372" y="240268"/>
            <a:ext cx="212211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algn="r">
              <a:defRPr sz="2400" b="1" i="0" u="none">
                <a:solidFill>
                  <a:srgbClr val="D97706"/>
                </a:solidFill>
                <a:latin typeface="Inter"/>
              </a:defRPr>
            </a:lvl1pPr>
          </a:lstStyle>
          <a:p>
            <a:r>
              <a:rPr sz="3200" dirty="0"/>
              <a:t>OBJECTIVE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226582"/>
            <a:ext cx="4488280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1" i="0" u="none" dirty="0">
                <a:solidFill>
                  <a:srgbClr val="0F172A"/>
                </a:solidFill>
                <a:latin typeface="Plus Jakarta Sans"/>
              </a:rPr>
              <a:t>Top Selling Product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609850"/>
            <a:ext cx="259686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D97706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609850"/>
            <a:ext cx="227857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0F172A"/>
                </a:solidFill>
                <a:latin typeface="Inter"/>
              </a:rPr>
              <a:t>Fruits and Vegetables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91425" y="2628900"/>
            <a:ext cx="1363578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 i="0" u="none" dirty="0">
                <a:solidFill>
                  <a:srgbClr val="64748B"/>
                </a:solidFill>
                <a:latin typeface="Inter"/>
              </a:rPr>
              <a:t>1,232 items sold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600" y="2628900"/>
            <a:ext cx="1078629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64748B"/>
                </a:solidFill>
                <a:latin typeface="Inter"/>
              </a:rPr>
              <a:t>Avg: ₹144.58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01275" y="2590800"/>
            <a:ext cx="1561325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₹178,124.08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381375"/>
            <a:ext cx="259686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D97706"/>
                </a:solidFill>
                <a:latin typeface="Inter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3381375"/>
            <a:ext cx="1304909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0F172A"/>
                </a:solidFill>
                <a:latin typeface="Inter"/>
              </a:rPr>
              <a:t>Snack Foods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0475" y="3400425"/>
            <a:ext cx="1363578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64748B"/>
                </a:solidFill>
                <a:latin typeface="Inter"/>
              </a:rPr>
              <a:t>1,200 items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0650" y="3400425"/>
            <a:ext cx="1078629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64748B"/>
                </a:solidFill>
                <a:latin typeface="Inter"/>
              </a:rPr>
              <a:t>Avg: ₹146.19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1750" y="3362325"/>
            <a:ext cx="1561325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₹175,433.92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4152900"/>
            <a:ext cx="259686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D97706"/>
                </a:solidFill>
                <a:latin typeface="Inter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4152900"/>
            <a:ext cx="114614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0F172A"/>
                </a:solidFill>
                <a:latin typeface="Inter"/>
              </a:rPr>
              <a:t>Household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15250" y="4171950"/>
            <a:ext cx="1208088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64748B"/>
                </a:solidFill>
                <a:latin typeface="Inter"/>
              </a:rPr>
              <a:t>910 items sold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600" y="4171950"/>
            <a:ext cx="1078629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64748B"/>
                </a:solidFill>
                <a:latin typeface="Inter"/>
              </a:rPr>
              <a:t>Avg: ₹149.42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10800" y="4133850"/>
            <a:ext cx="1561325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₹135,976.53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4924425"/>
            <a:ext cx="259686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D97706"/>
                </a:solidFill>
                <a:latin typeface="Inter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4924425"/>
            <a:ext cx="1393779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0F172A"/>
                </a:solidFill>
                <a:latin typeface="Inter"/>
              </a:rPr>
              <a:t>Frozen Foods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6675" y="4943475"/>
            <a:ext cx="1208088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64748B"/>
                </a:solidFill>
                <a:latin typeface="Inter"/>
              </a:rPr>
              <a:t>856 items sold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2075" y="4943475"/>
            <a:ext cx="1078629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64748B"/>
                </a:solidFill>
                <a:latin typeface="Inter"/>
              </a:rPr>
              <a:t>Avg: ₹138.50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1750" y="4905375"/>
            <a:ext cx="1561325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₹118,558.88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81312"/>
            <a:ext cx="3505200" cy="2009775"/>
          </a:xfrm>
          <a:prstGeom prst="roundRect">
            <a:avLst>
              <a:gd name="adj" fmla="val 7582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ounded Rectangle 2"/>
          <p:cNvSpPr/>
          <p:nvPr/>
        </p:nvSpPr>
        <p:spPr>
          <a:xfrm>
            <a:off x="4355108" y="2881312"/>
            <a:ext cx="3505200" cy="2009775"/>
          </a:xfrm>
          <a:prstGeom prst="roundRect">
            <a:avLst>
              <a:gd name="adj" fmla="val 7582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" name="Rounded Rectangle 3"/>
          <p:cNvSpPr/>
          <p:nvPr/>
        </p:nvSpPr>
        <p:spPr>
          <a:xfrm>
            <a:off x="8077200" y="2881312"/>
            <a:ext cx="3505200" cy="2009775"/>
          </a:xfrm>
          <a:prstGeom prst="roundRect">
            <a:avLst>
              <a:gd name="adj" fmla="val 7582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4343400" y="250865"/>
            <a:ext cx="238780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algn="r">
              <a:defRPr sz="2400" b="1" i="0" u="none">
                <a:solidFill>
                  <a:srgbClr val="D97706"/>
                </a:solidFill>
                <a:latin typeface="Inter"/>
              </a:defRPr>
            </a:lvl1pPr>
          </a:lstStyle>
          <a:p>
            <a:r>
              <a:rPr sz="3200" dirty="0"/>
              <a:t>OBJECTIVE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0563" y="1468219"/>
            <a:ext cx="5498108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1" i="0" u="none" dirty="0">
                <a:solidFill>
                  <a:srgbClr val="0F172A"/>
                </a:solidFill>
                <a:latin typeface="Plus Jakarta Sans"/>
              </a:rPr>
              <a:t>Underperforming Product Categories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3195637"/>
            <a:ext cx="1881284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11D48"/>
                </a:solidFill>
                <a:latin typeface="Inter"/>
              </a:rPr>
              <a:t>LOWEST REVENUE 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925" y="3471862"/>
            <a:ext cx="1040413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Seafood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925" y="3910012"/>
            <a:ext cx="1673535" cy="4924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200" b="1" i="0" u="none" dirty="0">
                <a:solidFill>
                  <a:srgbClr val="E11D48"/>
                </a:solidFill>
                <a:latin typeface="Plus Jakarta Sans"/>
              </a:rPr>
              <a:t>₹9,077.87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925" y="4414837"/>
            <a:ext cx="227286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Inter"/>
              </a:rPr>
              <a:t>Only 64 items sold across all outlets.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7725" y="3195637"/>
            <a:ext cx="1804148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11D48"/>
                </a:solidFill>
                <a:latin typeface="Inter"/>
              </a:rPr>
              <a:t>SECOND LOWEST CATEGORY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7725" y="3471862"/>
            <a:ext cx="1206421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Breakfast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7725" y="3910012"/>
            <a:ext cx="1881925" cy="4924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200" b="1" i="0" u="none">
                <a:solidFill>
                  <a:srgbClr val="E11D48"/>
                </a:solidFill>
                <a:latin typeface="Plus Jakarta Sans"/>
              </a:rPr>
              <a:t>₹15,596.70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7725" y="4414837"/>
            <a:ext cx="2559034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Inter"/>
              </a:rPr>
              <a:t>Limited stock depth with 110 total items.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1525" y="3195637"/>
            <a:ext cx="167610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11D48"/>
                </a:solidFill>
                <a:latin typeface="Inter"/>
              </a:rPr>
              <a:t>THIRD LOWEST CATEGORY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1525" y="3471862"/>
            <a:ext cx="1765804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Starchy Foods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1525" y="3910012"/>
            <a:ext cx="1881925" cy="4924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200" b="1" i="0" u="none">
                <a:solidFill>
                  <a:srgbClr val="E11D48"/>
                </a:solidFill>
                <a:latin typeface="Plus Jakarta Sans"/>
              </a:rPr>
              <a:t>₹21,880.03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1525" y="4414837"/>
            <a:ext cx="2881238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Inter"/>
              </a:rPr>
              <a:t>Low order volume with 148 total transactions.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56494" y="2763133"/>
            <a:ext cx="5638800" cy="1933882"/>
          </a:xfrm>
          <a:prstGeom prst="roundRect">
            <a:avLst>
              <a:gd name="adj" fmla="val 9756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" name="Rounded Rectangle 2"/>
          <p:cNvSpPr/>
          <p:nvPr/>
        </p:nvSpPr>
        <p:spPr>
          <a:xfrm>
            <a:off x="6301537" y="2706637"/>
            <a:ext cx="5491316" cy="1982280"/>
          </a:xfrm>
          <a:prstGeom prst="roundRect">
            <a:avLst>
              <a:gd name="adj" fmla="val 8743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683" y="3108074"/>
            <a:ext cx="219075" cy="19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95" y="3022452"/>
            <a:ext cx="190500" cy="165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82706" y="204540"/>
            <a:ext cx="238663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algn="r">
              <a:defRPr sz="2800" b="1" i="0" u="none">
                <a:solidFill>
                  <a:srgbClr val="D97706"/>
                </a:solidFill>
                <a:latin typeface="Inter"/>
              </a:defRPr>
            </a:lvl1pPr>
          </a:lstStyle>
          <a:p>
            <a:r>
              <a:rPr sz="3200" dirty="0"/>
              <a:t>OBJECTIVE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76458"/>
            <a:ext cx="4469237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1" i="0" u="none" dirty="0">
                <a:solidFill>
                  <a:srgbClr val="0F172A"/>
                </a:solidFill>
                <a:latin typeface="Plus Jakarta Sans"/>
              </a:rPr>
              <a:t>Top Outlets vs. Grocery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009" y="3601440"/>
            <a:ext cx="529401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34155"/>
                </a:solidFill>
                <a:latin typeface="Inter"/>
              </a:rPr>
              <a:t>OUT035 (Supermarket Type1, Tier 2):</a:t>
            </a:r>
            <a:r>
              <a:rPr sz="2000" b="0" i="0" u="none" dirty="0">
                <a:solidFill>
                  <a:srgbClr val="334155"/>
                </a:solidFill>
                <a:latin typeface="Inter"/>
              </a:rPr>
              <a:t> ₹133,103.91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1998" y="3875868"/>
            <a:ext cx="529401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34155"/>
                </a:solidFill>
                <a:latin typeface="Inter"/>
              </a:rPr>
              <a:t>OUT046 (Supermarket Type1, Tier 1):</a:t>
            </a:r>
            <a:r>
              <a:rPr sz="2000" b="0" i="0" u="none" dirty="0">
                <a:solidFill>
                  <a:srgbClr val="334155"/>
                </a:solidFill>
                <a:latin typeface="Inter"/>
              </a:rPr>
              <a:t> ₹132,113.37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987" y="4166046"/>
            <a:ext cx="529401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34155"/>
                </a:solidFill>
                <a:latin typeface="Inter"/>
              </a:rPr>
              <a:t>OUT013 (Supermarket Type1, Tier 3):</a:t>
            </a:r>
            <a:r>
              <a:rPr sz="2000" b="0" i="0" u="none" dirty="0">
                <a:solidFill>
                  <a:srgbClr val="334155"/>
                </a:solidFill>
                <a:latin typeface="Inter"/>
              </a:rPr>
              <a:t> ₹131,809.02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725" y="3567112"/>
            <a:ext cx="455317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34155"/>
                </a:solidFill>
                <a:latin typeface="Inter"/>
              </a:rPr>
              <a:t>OUT019 (Grocery Store, Tier 1):</a:t>
            </a:r>
            <a:r>
              <a:rPr sz="2000" b="0" i="0" u="none" dirty="0">
                <a:solidFill>
                  <a:srgbClr val="334155"/>
                </a:solidFill>
                <a:latin typeface="Inter"/>
              </a:rPr>
              <a:t> ₹73,807.58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725" y="3824287"/>
            <a:ext cx="455317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334155"/>
                </a:solidFill>
                <a:latin typeface="Inter"/>
              </a:rPr>
              <a:t>OUT010 (Grocery Store, Tier 3):</a:t>
            </a:r>
            <a:r>
              <a:rPr sz="2000" b="0" i="0" u="none">
                <a:solidFill>
                  <a:srgbClr val="334155"/>
                </a:solidFill>
                <a:latin typeface="Inter"/>
              </a:rPr>
              <a:t> ₹78,131.57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2725" y="4081462"/>
            <a:ext cx="48006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64748B"/>
                </a:solidFill>
                <a:latin typeface="Inter"/>
              </a:rPr>
              <a:t>Grocery stores generate ~44% lower overall volume than Supermarkets.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7417" y="2972661"/>
            <a:ext cx="3454664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1" i="0" u="none" dirty="0">
                <a:solidFill>
                  <a:srgbClr val="0F172A"/>
                </a:solidFill>
                <a:latin typeface="Plus Jakarta Sans"/>
              </a:rPr>
              <a:t>Top Performing Outlets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4623" y="2908043"/>
            <a:ext cx="3776803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1" i="0" u="none" dirty="0">
                <a:solidFill>
                  <a:srgbClr val="0F172A"/>
                </a:solidFill>
                <a:latin typeface="Plus Jakarta Sans"/>
              </a:rPr>
              <a:t>Underperforming Outlets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599" y="3128962"/>
            <a:ext cx="2667001" cy="2546281"/>
          </a:xfrm>
          <a:prstGeom prst="roundRect">
            <a:avLst>
              <a:gd name="adj" fmla="val 981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Rounded Rectangle 2"/>
          <p:cNvSpPr/>
          <p:nvPr/>
        </p:nvSpPr>
        <p:spPr>
          <a:xfrm>
            <a:off x="3409950" y="3128962"/>
            <a:ext cx="2571750" cy="2546281"/>
          </a:xfrm>
          <a:prstGeom prst="roundRect">
            <a:avLst>
              <a:gd name="adj" fmla="val 981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ounded Rectangle 3"/>
          <p:cNvSpPr/>
          <p:nvPr/>
        </p:nvSpPr>
        <p:spPr>
          <a:xfrm>
            <a:off x="6210300" y="3128962"/>
            <a:ext cx="2628900" cy="2546281"/>
          </a:xfrm>
          <a:prstGeom prst="roundRect">
            <a:avLst>
              <a:gd name="adj" fmla="val 981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ounded Rectangle 4"/>
          <p:cNvSpPr/>
          <p:nvPr/>
        </p:nvSpPr>
        <p:spPr>
          <a:xfrm>
            <a:off x="9010650" y="3042974"/>
            <a:ext cx="2735746" cy="2625795"/>
          </a:xfrm>
          <a:prstGeom prst="roundRect">
            <a:avLst>
              <a:gd name="adj" fmla="val 981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ectangle 5"/>
          <p:cNvSpPr/>
          <p:nvPr/>
        </p:nvSpPr>
        <p:spPr>
          <a:xfrm>
            <a:off x="609600" y="3128962"/>
            <a:ext cx="2571750" cy="381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7" name="Rectangle 6"/>
          <p:cNvSpPr/>
          <p:nvPr/>
        </p:nvSpPr>
        <p:spPr>
          <a:xfrm>
            <a:off x="3409950" y="3128962"/>
            <a:ext cx="257175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6210300" y="3128962"/>
            <a:ext cx="2571750" cy="381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Rectangle 8"/>
          <p:cNvSpPr/>
          <p:nvPr/>
        </p:nvSpPr>
        <p:spPr>
          <a:xfrm>
            <a:off x="9010650" y="3128962"/>
            <a:ext cx="257175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3531705" y="254913"/>
            <a:ext cx="299830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algn="r">
              <a:defRPr sz="2800" b="1" i="0" u="none">
                <a:solidFill>
                  <a:srgbClr val="D97706"/>
                </a:solidFill>
                <a:latin typeface="Inter"/>
              </a:defRPr>
            </a:lvl1pPr>
          </a:lstStyle>
          <a:p>
            <a:r>
              <a:rPr sz="3200" dirty="0"/>
              <a:t>ACTION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1613867"/>
            <a:ext cx="5498813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1" i="0" u="none" dirty="0">
                <a:solidFill>
                  <a:srgbClr val="0F172A"/>
                </a:solidFill>
                <a:latin typeface="Plus Jakarta Sans"/>
              </a:rPr>
              <a:t>Practical Business Recommendations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3433762"/>
            <a:ext cx="1307409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Plus Jakarta Sans"/>
              </a:rPr>
              <a:t>Stock Smartly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3767137"/>
            <a:ext cx="2133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475569"/>
                </a:solidFill>
                <a:latin typeface="Inter"/>
              </a:rPr>
              <a:t>Expand shelf allocation for top categories like Fruits, Vegetables, and Snacks while pruning cold stock.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6876" y="3402984"/>
            <a:ext cx="221618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172A"/>
                </a:solidFill>
                <a:latin typeface="Plus Jakarta Sans"/>
              </a:rPr>
              <a:t>Replicate</a:t>
            </a:r>
            <a:r>
              <a:rPr sz="16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b="1" dirty="0">
                <a:solidFill>
                  <a:srgbClr val="0F172A"/>
                </a:solidFill>
                <a:latin typeface="Plus Jakarta Sans"/>
              </a:rPr>
              <a:t>Outlet Wins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6650" y="3767137"/>
            <a:ext cx="2133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dirty="0">
                <a:solidFill>
                  <a:srgbClr val="475569"/>
                </a:solidFill>
                <a:latin typeface="Inter"/>
              </a:rPr>
              <a:t>Extract operational benchmarks from top Supermarkets (OUT035) and deploy to lagging grocery units.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3433762"/>
            <a:ext cx="222118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Plus Jakarta Sans"/>
              </a:rPr>
              <a:t>Boost Product Visibility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0" y="3767137"/>
            <a:ext cx="2133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defRPr sz="1600">
                <a:solidFill>
                  <a:srgbClr val="475569"/>
                </a:solidFill>
                <a:latin typeface="Inter"/>
              </a:defRPr>
            </a:lvl1pPr>
          </a:lstStyle>
          <a:p>
            <a:r>
              <a:rPr sz="1800" dirty="0"/>
              <a:t>Reposition high-margin, highly-rated items to prime eye-level digital and physical shelf placements.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9822" y="3433762"/>
            <a:ext cx="1469954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Plus Jakarta Sans"/>
              </a:rPr>
              <a:t>Smart Bundling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7350" y="3767137"/>
            <a:ext cx="2133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defRPr sz="1600">
                <a:solidFill>
                  <a:srgbClr val="475569"/>
                </a:solidFill>
                <a:latin typeface="Inter"/>
              </a:defRPr>
            </a:lvl1pPr>
          </a:lstStyle>
          <a:p>
            <a:r>
              <a:rPr sz="1800" dirty="0"/>
              <a:t>Bundle lower-volume goods (Seafood, Breakfast) with high-traffic staples to accelerate inventory turnover.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407</Words>
  <Application>Microsoft Office PowerPoint</Application>
  <PresentationFormat>Widescreen</PresentationFormat>
  <Paragraphs>84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Plus Jakarta Sans</vt:lpstr>
      <vt:lpstr>Arial</vt:lpstr>
      <vt:lpstr>Inter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Parth Khanna</cp:lastModifiedBy>
  <cp:revision>8</cp:revision>
  <dcterms:created xsi:type="dcterms:W3CDTF">2013-01-27T09:14:16Z</dcterms:created>
  <dcterms:modified xsi:type="dcterms:W3CDTF">2026-10-19T07:52:49Z</dcterms:modified>
  <cp:category/>
</cp:coreProperties>
</file>